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6"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94660"/>
  </p:normalViewPr>
  <p:slideViewPr>
    <p:cSldViewPr snapToGrid="0">
      <p:cViewPr varScale="1">
        <p:scale>
          <a:sx n="78" d="100"/>
          <a:sy n="78" d="100"/>
        </p:scale>
        <p:origin x="103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61B69D8-C728-4E99-B4FF-B249F848195C}" type="datetimeFigureOut">
              <a:rPr lang="en-IN" smtClean="0"/>
              <a:t>07-11-2025</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725D2A53-A36C-472C-84DE-1920300BA697}" type="slidenum">
              <a:rPr lang="en-IN" smtClean="0"/>
              <a:t>‹#›</a:t>
            </a:fld>
            <a:endParaRPr lang="en-IN"/>
          </a:p>
        </p:txBody>
      </p:sp>
    </p:spTree>
    <p:extLst>
      <p:ext uri="{BB962C8B-B14F-4D97-AF65-F5344CB8AC3E}">
        <p14:creationId xmlns:p14="http://schemas.microsoft.com/office/powerpoint/2010/main" val="32998693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1B69D8-C728-4E99-B4FF-B249F848195C}" type="datetimeFigureOut">
              <a:rPr lang="en-IN" smtClean="0"/>
              <a:t>07-11-2025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25D2A53-A36C-472C-84DE-1920300BA697}" type="slidenum">
              <a:rPr lang="en-IN" smtClean="0"/>
              <a:t>‹#›</a:t>
            </a:fld>
            <a:endParaRPr lang="en-IN"/>
          </a:p>
        </p:txBody>
      </p:sp>
    </p:spTree>
    <p:extLst>
      <p:ext uri="{BB962C8B-B14F-4D97-AF65-F5344CB8AC3E}">
        <p14:creationId xmlns:p14="http://schemas.microsoft.com/office/powerpoint/2010/main" val="8466905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1B69D8-C728-4E99-B4FF-B249F848195C}" type="datetimeFigureOut">
              <a:rPr lang="en-IN" smtClean="0"/>
              <a:t>07-11-2025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25D2A53-A36C-472C-84DE-1920300BA697}" type="slidenum">
              <a:rPr lang="en-IN" smtClean="0"/>
              <a:t>‹#›</a:t>
            </a:fld>
            <a:endParaRPr lang="en-IN"/>
          </a:p>
        </p:txBody>
      </p:sp>
    </p:spTree>
    <p:extLst>
      <p:ext uri="{BB962C8B-B14F-4D97-AF65-F5344CB8AC3E}">
        <p14:creationId xmlns:p14="http://schemas.microsoft.com/office/powerpoint/2010/main" val="3248662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1B69D8-C728-4E99-B4FF-B249F848195C}" type="datetimeFigureOut">
              <a:rPr lang="en-IN" smtClean="0"/>
              <a:t>07-11-2025</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725D2A53-A36C-472C-84DE-1920300BA697}" type="slidenum">
              <a:rPr lang="en-IN" smtClean="0"/>
              <a:t>‹#›</a:t>
            </a:fld>
            <a:endParaRPr lang="en-IN"/>
          </a:p>
        </p:txBody>
      </p:sp>
    </p:spTree>
    <p:extLst>
      <p:ext uri="{BB962C8B-B14F-4D97-AF65-F5344CB8AC3E}">
        <p14:creationId xmlns:p14="http://schemas.microsoft.com/office/powerpoint/2010/main" val="14594459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1B69D8-C728-4E99-B4FF-B249F848195C}" type="datetimeFigureOut">
              <a:rPr lang="en-IN" smtClean="0"/>
              <a:t>07-11-2025</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725D2A53-A36C-472C-84DE-1920300BA697}" type="slidenum">
              <a:rPr lang="en-IN" smtClean="0"/>
              <a:t>‹#›</a:t>
            </a:fld>
            <a:endParaRPr lang="en-IN"/>
          </a:p>
        </p:txBody>
      </p:sp>
    </p:spTree>
    <p:extLst>
      <p:ext uri="{BB962C8B-B14F-4D97-AF65-F5344CB8AC3E}">
        <p14:creationId xmlns:p14="http://schemas.microsoft.com/office/powerpoint/2010/main" val="5536650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1B69D8-C728-4E99-B4FF-B249F848195C}" type="datetimeFigureOut">
              <a:rPr lang="en-IN" smtClean="0"/>
              <a:t>07-11-2025</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725D2A53-A36C-472C-84DE-1920300BA697}" type="slidenum">
              <a:rPr lang="en-IN" smtClean="0"/>
              <a:t>‹#›</a:t>
            </a:fld>
            <a:endParaRPr lang="en-IN"/>
          </a:p>
        </p:txBody>
      </p:sp>
    </p:spTree>
    <p:extLst>
      <p:ext uri="{BB962C8B-B14F-4D97-AF65-F5344CB8AC3E}">
        <p14:creationId xmlns:p14="http://schemas.microsoft.com/office/powerpoint/2010/main" val="15446803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1B69D8-C728-4E99-B4FF-B249F848195C}" type="datetimeFigureOut">
              <a:rPr lang="en-IN" smtClean="0"/>
              <a:t>07-11-2025</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725D2A53-A36C-472C-84DE-1920300BA697}" type="slidenum">
              <a:rPr lang="en-IN" smtClean="0"/>
              <a:t>‹#›</a:t>
            </a:fld>
            <a:endParaRPr lang="en-IN"/>
          </a:p>
        </p:txBody>
      </p:sp>
    </p:spTree>
    <p:extLst>
      <p:ext uri="{BB962C8B-B14F-4D97-AF65-F5344CB8AC3E}">
        <p14:creationId xmlns:p14="http://schemas.microsoft.com/office/powerpoint/2010/main" val="28392193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1B69D8-C728-4E99-B4FF-B249F848195C}" type="datetimeFigureOut">
              <a:rPr lang="en-IN" smtClean="0"/>
              <a:t>07-11-2025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725D2A53-A36C-472C-84DE-1920300BA697}" type="slidenum">
              <a:rPr lang="en-IN" smtClean="0"/>
              <a:t>‹#›</a:t>
            </a:fld>
            <a:endParaRPr lang="en-IN"/>
          </a:p>
        </p:txBody>
      </p:sp>
    </p:spTree>
    <p:extLst>
      <p:ext uri="{BB962C8B-B14F-4D97-AF65-F5344CB8AC3E}">
        <p14:creationId xmlns:p14="http://schemas.microsoft.com/office/powerpoint/2010/main" val="20673973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1B69D8-C728-4E99-B4FF-B249F848195C}" type="datetimeFigureOut">
              <a:rPr lang="en-IN" smtClean="0"/>
              <a:t>07-11-2025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25D2A53-A36C-472C-84DE-1920300BA697}" type="slidenum">
              <a:rPr lang="en-IN" smtClean="0"/>
              <a:t>‹#›</a:t>
            </a:fld>
            <a:endParaRPr lang="en-IN"/>
          </a:p>
        </p:txBody>
      </p:sp>
    </p:spTree>
    <p:extLst>
      <p:ext uri="{BB962C8B-B14F-4D97-AF65-F5344CB8AC3E}">
        <p14:creationId xmlns:p14="http://schemas.microsoft.com/office/powerpoint/2010/main" val="20656932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1B69D8-C728-4E99-B4FF-B249F848195C}" type="datetimeFigureOut">
              <a:rPr lang="en-IN" smtClean="0"/>
              <a:t>07-11-2025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25D2A53-A36C-472C-84DE-1920300BA697}" type="slidenum">
              <a:rPr lang="en-IN" smtClean="0"/>
              <a:t>‹#›</a:t>
            </a:fld>
            <a:endParaRPr lang="en-IN"/>
          </a:p>
        </p:txBody>
      </p:sp>
    </p:spTree>
    <p:extLst>
      <p:ext uri="{BB962C8B-B14F-4D97-AF65-F5344CB8AC3E}">
        <p14:creationId xmlns:p14="http://schemas.microsoft.com/office/powerpoint/2010/main" val="1541472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1B69D8-C728-4E99-B4FF-B249F848195C}" type="datetimeFigureOut">
              <a:rPr lang="en-IN" smtClean="0"/>
              <a:t>07-11-2025</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25D2A53-A36C-472C-84DE-1920300BA697}"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9555083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61B69D8-C728-4E99-B4FF-B249F848195C}" type="datetimeFigureOut">
              <a:rPr lang="en-IN" smtClean="0"/>
              <a:t>07-11-2025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25D2A53-A36C-472C-84DE-1920300BA697}" type="slidenum">
              <a:rPr lang="en-IN" smtClean="0"/>
              <a:t>‹#›</a:t>
            </a:fld>
            <a:endParaRPr lang="en-IN"/>
          </a:p>
        </p:txBody>
      </p:sp>
    </p:spTree>
    <p:extLst>
      <p:ext uri="{BB962C8B-B14F-4D97-AF65-F5344CB8AC3E}">
        <p14:creationId xmlns:p14="http://schemas.microsoft.com/office/powerpoint/2010/main" val="7210259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61B69D8-C728-4E99-B4FF-B249F848195C}" type="datetimeFigureOut">
              <a:rPr lang="en-IN" smtClean="0"/>
              <a:t>07-11-2025</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25D2A53-A36C-472C-84DE-1920300BA697}"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9298219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61B69D8-C728-4E99-B4FF-B249F848195C}" type="datetimeFigureOut">
              <a:rPr lang="en-IN" smtClean="0"/>
              <a:t>07-11-2025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25D2A53-A36C-472C-84DE-1920300BA697}" type="slidenum">
              <a:rPr lang="en-IN" smtClean="0"/>
              <a:t>‹#›</a:t>
            </a:fld>
            <a:endParaRPr lang="en-IN"/>
          </a:p>
        </p:txBody>
      </p:sp>
    </p:spTree>
    <p:extLst>
      <p:ext uri="{BB962C8B-B14F-4D97-AF65-F5344CB8AC3E}">
        <p14:creationId xmlns:p14="http://schemas.microsoft.com/office/powerpoint/2010/main" val="35260109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1B69D8-C728-4E99-B4FF-B249F848195C}" type="datetimeFigureOut">
              <a:rPr lang="en-IN" smtClean="0"/>
              <a:t>07-11-2025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25D2A53-A36C-472C-84DE-1920300BA697}" type="slidenum">
              <a:rPr lang="en-IN" smtClean="0"/>
              <a:t>‹#›</a:t>
            </a:fld>
            <a:endParaRPr lang="en-IN"/>
          </a:p>
        </p:txBody>
      </p:sp>
    </p:spTree>
    <p:extLst>
      <p:ext uri="{BB962C8B-B14F-4D97-AF65-F5344CB8AC3E}">
        <p14:creationId xmlns:p14="http://schemas.microsoft.com/office/powerpoint/2010/main" val="13668458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1B69D8-C728-4E99-B4FF-B249F848195C}" type="datetimeFigureOut">
              <a:rPr lang="en-IN" smtClean="0"/>
              <a:t>07-11-2025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25D2A53-A36C-472C-84DE-1920300BA697}" type="slidenum">
              <a:rPr lang="en-IN" smtClean="0"/>
              <a:t>‹#›</a:t>
            </a:fld>
            <a:endParaRPr lang="en-IN"/>
          </a:p>
        </p:txBody>
      </p:sp>
    </p:spTree>
    <p:extLst>
      <p:ext uri="{BB962C8B-B14F-4D97-AF65-F5344CB8AC3E}">
        <p14:creationId xmlns:p14="http://schemas.microsoft.com/office/powerpoint/2010/main" val="33962671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961B69D8-C728-4E99-B4FF-B249F848195C}" type="datetimeFigureOut">
              <a:rPr lang="en-IN" smtClean="0"/>
              <a:t>07-11-2025</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725D2A53-A36C-472C-84DE-1920300BA697}" type="slidenum">
              <a:rPr lang="en-IN" smtClean="0"/>
              <a:t>‹#›</a:t>
            </a:fld>
            <a:endParaRPr lang="en-IN"/>
          </a:p>
        </p:txBody>
      </p:sp>
    </p:spTree>
    <p:extLst>
      <p:ext uri="{BB962C8B-B14F-4D97-AF65-F5344CB8AC3E}">
        <p14:creationId xmlns:p14="http://schemas.microsoft.com/office/powerpoint/2010/main" val="140012014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7690B-54D9-FA00-3132-B6A10393C258}"/>
              </a:ext>
            </a:extLst>
          </p:cNvPr>
          <p:cNvSpPr>
            <a:spLocks noGrp="1"/>
          </p:cNvSpPr>
          <p:nvPr>
            <p:ph type="title"/>
          </p:nvPr>
        </p:nvSpPr>
        <p:spPr/>
        <p:txBody>
          <a:bodyPr/>
          <a:lstStyle/>
          <a:p>
            <a:pPr algn="ctr"/>
            <a:r>
              <a:rPr lang="en-IN" dirty="0"/>
              <a:t>Link to the video</a:t>
            </a:r>
          </a:p>
        </p:txBody>
      </p:sp>
      <p:sp>
        <p:nvSpPr>
          <p:cNvPr id="3" name="Content Placeholder 2">
            <a:extLst>
              <a:ext uri="{FF2B5EF4-FFF2-40B4-BE49-F238E27FC236}">
                <a16:creationId xmlns:a16="http://schemas.microsoft.com/office/drawing/2014/main" id="{B64CA5FA-F432-A1E6-66C7-D3E8877B4B24}"/>
              </a:ext>
            </a:extLst>
          </p:cNvPr>
          <p:cNvSpPr>
            <a:spLocks noGrp="1"/>
          </p:cNvSpPr>
          <p:nvPr>
            <p:ph idx="1"/>
          </p:nvPr>
        </p:nvSpPr>
        <p:spPr/>
        <p:txBody>
          <a:bodyPr/>
          <a:lstStyle/>
          <a:p>
            <a:pPr algn="ctr"/>
            <a:r>
              <a:rPr lang="en-IN" dirty="0"/>
              <a:t>https://youtu.be/M3fLqESv3iY</a:t>
            </a:r>
          </a:p>
        </p:txBody>
      </p:sp>
    </p:spTree>
    <p:extLst>
      <p:ext uri="{BB962C8B-B14F-4D97-AF65-F5344CB8AC3E}">
        <p14:creationId xmlns:p14="http://schemas.microsoft.com/office/powerpoint/2010/main" val="37345496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EF93D-DDAC-2E11-7B85-9E885313FDA9}"/>
              </a:ext>
            </a:extLst>
          </p:cNvPr>
          <p:cNvSpPr>
            <a:spLocks noGrp="1"/>
          </p:cNvSpPr>
          <p:nvPr>
            <p:ph type="ctrTitle"/>
          </p:nvPr>
        </p:nvSpPr>
        <p:spPr>
          <a:xfrm>
            <a:off x="2490890" y="95865"/>
            <a:ext cx="8915399" cy="2262781"/>
          </a:xfrm>
        </p:spPr>
        <p:txBody>
          <a:bodyPr/>
          <a:lstStyle/>
          <a:p>
            <a:r>
              <a:rPr lang="en-IN" dirty="0"/>
              <a:t>CISC 322 </a:t>
            </a:r>
            <a:br>
              <a:rPr lang="en-IN" dirty="0"/>
            </a:br>
            <a:r>
              <a:rPr lang="en-IN" dirty="0"/>
              <a:t>A2 Presentation</a:t>
            </a:r>
          </a:p>
        </p:txBody>
      </p:sp>
      <p:sp>
        <p:nvSpPr>
          <p:cNvPr id="3" name="Subtitle 2">
            <a:extLst>
              <a:ext uri="{FF2B5EF4-FFF2-40B4-BE49-F238E27FC236}">
                <a16:creationId xmlns:a16="http://schemas.microsoft.com/office/drawing/2014/main" id="{9B6A9D5D-2A00-7065-1DDA-B5CEEBDEFADE}"/>
              </a:ext>
            </a:extLst>
          </p:cNvPr>
          <p:cNvSpPr>
            <a:spLocks noGrp="1"/>
          </p:cNvSpPr>
          <p:nvPr>
            <p:ph type="subTitle" idx="1"/>
          </p:nvPr>
        </p:nvSpPr>
        <p:spPr>
          <a:xfrm>
            <a:off x="2589213" y="2566219"/>
            <a:ext cx="8915399" cy="3337443"/>
          </a:xfrm>
        </p:spPr>
        <p:txBody>
          <a:bodyPr>
            <a:normAutofit/>
          </a:bodyPr>
          <a:lstStyle/>
          <a:p>
            <a:r>
              <a:rPr lang="en-US" dirty="0"/>
              <a:t>Group 26 – </a:t>
            </a:r>
            <a:r>
              <a:rPr lang="en-US" dirty="0" err="1"/>
              <a:t>Moneyballers</a:t>
            </a:r>
            <a:r>
              <a:rPr lang="en-US" dirty="0"/>
              <a:t> </a:t>
            </a:r>
            <a:br>
              <a:rPr lang="en-US" dirty="0"/>
            </a:br>
            <a:br>
              <a:rPr lang="en-US" dirty="0"/>
            </a:br>
            <a:r>
              <a:rPr lang="en-US" dirty="0"/>
              <a:t>Concrete Architecture of VOID</a:t>
            </a:r>
            <a:br>
              <a:rPr lang="en-US" dirty="0"/>
            </a:br>
            <a:br>
              <a:rPr lang="en-US" dirty="0"/>
            </a:br>
            <a:r>
              <a:rPr lang="en-US" dirty="0"/>
              <a:t>Report created by:</a:t>
            </a:r>
            <a:br>
              <a:rPr lang="en-US" dirty="0"/>
            </a:br>
            <a:r>
              <a:rPr lang="en-US" dirty="0"/>
              <a:t>Shaun         - </a:t>
            </a:r>
            <a:r>
              <a:rPr lang="en-IN" dirty="0"/>
              <a:t>22QH17@queensu.ca</a:t>
            </a:r>
            <a:r>
              <a:rPr lang="en-US" dirty="0"/>
              <a:t> (Group Leader)</a:t>
            </a:r>
            <a:br>
              <a:rPr lang="en-US" dirty="0"/>
            </a:br>
            <a:r>
              <a:rPr lang="en-US" dirty="0"/>
              <a:t>Daryan       - </a:t>
            </a:r>
            <a:r>
              <a:rPr lang="en-IN" dirty="0"/>
              <a:t>22GMV4@queensu.ca</a:t>
            </a:r>
            <a:r>
              <a:rPr lang="en-US" dirty="0"/>
              <a:t> (Presenter )</a:t>
            </a:r>
            <a:br>
              <a:rPr lang="en-US" dirty="0"/>
            </a:br>
            <a:r>
              <a:rPr lang="en-US" dirty="0" err="1"/>
              <a:t>Tirthkumar</a:t>
            </a:r>
            <a:r>
              <a:rPr lang="en-US" dirty="0"/>
              <a:t>  - </a:t>
            </a:r>
            <a:r>
              <a:rPr lang="en-IN" dirty="0"/>
              <a:t>23DWN3@queensu.ca </a:t>
            </a:r>
            <a:r>
              <a:rPr lang="en-US" dirty="0"/>
              <a:t>(Slide Preparation )</a:t>
            </a:r>
            <a:br>
              <a:rPr lang="en-US" dirty="0"/>
            </a:br>
            <a:r>
              <a:rPr lang="en-US" dirty="0"/>
              <a:t>Maaz          - </a:t>
            </a:r>
            <a:r>
              <a:rPr lang="en-IN" dirty="0"/>
              <a:t>23RSMB@queensu.ca</a:t>
            </a:r>
            <a:br>
              <a:rPr lang="en-US" dirty="0"/>
            </a:br>
            <a:r>
              <a:rPr lang="en-US" dirty="0"/>
              <a:t>Manu          - </a:t>
            </a:r>
            <a:r>
              <a:rPr lang="en-IN" dirty="0"/>
              <a:t>manu.m@queensu.ca</a:t>
            </a:r>
            <a:br>
              <a:rPr lang="en-US" dirty="0"/>
            </a:br>
            <a:r>
              <a:rPr lang="en-US" dirty="0" err="1"/>
              <a:t>Shujinth</a:t>
            </a:r>
            <a:r>
              <a:rPr lang="en-US" dirty="0"/>
              <a:t>       - </a:t>
            </a:r>
            <a:r>
              <a:rPr lang="en-IN" dirty="0"/>
              <a:t>21ss383@queensu.ca</a:t>
            </a:r>
          </a:p>
        </p:txBody>
      </p:sp>
    </p:spTree>
    <p:extLst>
      <p:ext uri="{BB962C8B-B14F-4D97-AF65-F5344CB8AC3E}">
        <p14:creationId xmlns:p14="http://schemas.microsoft.com/office/powerpoint/2010/main" val="13293976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CD6B3-B855-4095-1B9E-D39BDF026680}"/>
              </a:ext>
            </a:extLst>
          </p:cNvPr>
          <p:cNvSpPr>
            <a:spLocks noGrp="1"/>
          </p:cNvSpPr>
          <p:nvPr>
            <p:ph type="title"/>
          </p:nvPr>
        </p:nvSpPr>
        <p:spPr/>
        <p:txBody>
          <a:bodyPr/>
          <a:lstStyle/>
          <a:p>
            <a:r>
              <a:rPr lang="en-IN" dirty="0"/>
              <a:t>Introduction </a:t>
            </a:r>
          </a:p>
        </p:txBody>
      </p:sp>
      <p:sp>
        <p:nvSpPr>
          <p:cNvPr id="3" name="Content Placeholder 2">
            <a:extLst>
              <a:ext uri="{FF2B5EF4-FFF2-40B4-BE49-F238E27FC236}">
                <a16:creationId xmlns:a16="http://schemas.microsoft.com/office/drawing/2014/main" id="{3634C35B-13B4-1DF0-739E-B7F324D76704}"/>
              </a:ext>
            </a:extLst>
          </p:cNvPr>
          <p:cNvSpPr>
            <a:spLocks noGrp="1"/>
          </p:cNvSpPr>
          <p:nvPr>
            <p:ph idx="1"/>
          </p:nvPr>
        </p:nvSpPr>
        <p:spPr/>
        <p:txBody>
          <a:bodyPr/>
          <a:lstStyle/>
          <a:p>
            <a:r>
              <a:rPr lang="en-IN" dirty="0"/>
              <a:t>VOID and its integration with VS Code and Electron</a:t>
            </a:r>
          </a:p>
          <a:p>
            <a:r>
              <a:rPr lang="en-IN" dirty="0"/>
              <a:t>Report presents:</a:t>
            </a:r>
          </a:p>
          <a:p>
            <a:pPr marL="0" indent="0">
              <a:buNone/>
            </a:pPr>
            <a:r>
              <a:rPr lang="en-IN" dirty="0"/>
              <a:t>	 Static dependency analysis</a:t>
            </a:r>
            <a:br>
              <a:rPr lang="en-IN" dirty="0"/>
            </a:br>
            <a:r>
              <a:rPr lang="en-IN" dirty="0"/>
              <a:t>	 High level concrete architecture </a:t>
            </a:r>
            <a:br>
              <a:rPr lang="en-IN" dirty="0"/>
            </a:br>
            <a:r>
              <a:rPr lang="en-IN" dirty="0"/>
              <a:t>	 Subsystems</a:t>
            </a:r>
            <a:br>
              <a:rPr lang="en-IN" dirty="0"/>
            </a:br>
            <a:r>
              <a:rPr lang="en-IN" dirty="0"/>
              <a:t>	 Reflexion analysis </a:t>
            </a:r>
            <a:br>
              <a:rPr lang="en-IN" dirty="0"/>
            </a:br>
            <a:r>
              <a:rPr lang="en-IN" dirty="0"/>
              <a:t>	 </a:t>
            </a:r>
          </a:p>
        </p:txBody>
      </p:sp>
    </p:spTree>
    <p:extLst>
      <p:ext uri="{BB962C8B-B14F-4D97-AF65-F5344CB8AC3E}">
        <p14:creationId xmlns:p14="http://schemas.microsoft.com/office/powerpoint/2010/main" val="26258087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7CD0E-4F64-192A-B3B5-478D7327402D}"/>
              </a:ext>
            </a:extLst>
          </p:cNvPr>
          <p:cNvSpPr>
            <a:spLocks noGrp="1"/>
          </p:cNvSpPr>
          <p:nvPr>
            <p:ph type="title"/>
          </p:nvPr>
        </p:nvSpPr>
        <p:spPr/>
        <p:txBody>
          <a:bodyPr/>
          <a:lstStyle/>
          <a:p>
            <a:r>
              <a:rPr lang="en-IN" dirty="0"/>
              <a:t>Deriving Concrete Architecture </a:t>
            </a:r>
          </a:p>
        </p:txBody>
      </p:sp>
      <p:sp>
        <p:nvSpPr>
          <p:cNvPr id="3" name="Content Placeholder 2">
            <a:extLst>
              <a:ext uri="{FF2B5EF4-FFF2-40B4-BE49-F238E27FC236}">
                <a16:creationId xmlns:a16="http://schemas.microsoft.com/office/drawing/2014/main" id="{A49BD99E-F453-49A2-B6A7-7F9D28FBFB3E}"/>
              </a:ext>
            </a:extLst>
          </p:cNvPr>
          <p:cNvSpPr>
            <a:spLocks noGrp="1"/>
          </p:cNvSpPr>
          <p:nvPr>
            <p:ph idx="1"/>
          </p:nvPr>
        </p:nvSpPr>
        <p:spPr>
          <a:xfrm>
            <a:off x="2589212" y="1411705"/>
            <a:ext cx="3939925" cy="5101389"/>
          </a:xfrm>
        </p:spPr>
        <p:txBody>
          <a:bodyPr>
            <a:normAutofit fontScale="85000" lnSpcReduction="10000"/>
          </a:bodyPr>
          <a:lstStyle/>
          <a:p>
            <a:r>
              <a:rPr lang="en-IN" dirty="0"/>
              <a:t>Derived concrete architecture from the actual source code using Understand Tool</a:t>
            </a:r>
          </a:p>
          <a:p>
            <a:r>
              <a:rPr lang="en-IN" dirty="0"/>
              <a:t>Compare Conceptual Architecture and Concrete Architecture to identify the alignment and divergence</a:t>
            </a:r>
          </a:p>
          <a:p>
            <a:r>
              <a:rPr lang="en-IN" dirty="0"/>
              <a:t>Highlight subsystems and dependencies and architectural drift for maintainability </a:t>
            </a:r>
          </a:p>
          <a:p>
            <a:r>
              <a:rPr lang="en-IN" dirty="0"/>
              <a:t>Started from A1 conceptual architecture </a:t>
            </a:r>
          </a:p>
          <a:p>
            <a:r>
              <a:rPr lang="en-IN" dirty="0"/>
              <a:t>Used Understand tool to visualize dependencies and interactions</a:t>
            </a:r>
          </a:p>
          <a:p>
            <a:r>
              <a:rPr lang="en-IN" dirty="0"/>
              <a:t>Mapped conceptual components to concrete subsystems </a:t>
            </a:r>
          </a:p>
          <a:p>
            <a:r>
              <a:rPr lang="en-IN" dirty="0"/>
              <a:t>VOID architecture visualizes modules like </a:t>
            </a:r>
            <a:r>
              <a:rPr lang="en-IN" dirty="0" err="1"/>
              <a:t>src</a:t>
            </a:r>
            <a:r>
              <a:rPr lang="en-IN" dirty="0"/>
              <a:t>, editor, workbench, and extensions</a:t>
            </a:r>
          </a:p>
        </p:txBody>
      </p:sp>
      <p:pic>
        <p:nvPicPr>
          <p:cNvPr id="2050" name="Picture 2">
            <a:extLst>
              <a:ext uri="{FF2B5EF4-FFF2-40B4-BE49-F238E27FC236}">
                <a16:creationId xmlns:a16="http://schemas.microsoft.com/office/drawing/2014/main" id="{A48494B6-20C4-4A83-6909-35D00E9A39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48768" y="1411705"/>
            <a:ext cx="2783662" cy="54462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54263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7BD93-A724-0B5D-DAAA-25E92AAEEEDA}"/>
              </a:ext>
            </a:extLst>
          </p:cNvPr>
          <p:cNvSpPr>
            <a:spLocks noGrp="1"/>
          </p:cNvSpPr>
          <p:nvPr>
            <p:ph type="title"/>
          </p:nvPr>
        </p:nvSpPr>
        <p:spPr/>
        <p:txBody>
          <a:bodyPr/>
          <a:lstStyle/>
          <a:p>
            <a:r>
              <a:rPr lang="en-IN" dirty="0"/>
              <a:t>High level concrete architecture</a:t>
            </a:r>
          </a:p>
        </p:txBody>
      </p:sp>
      <p:sp>
        <p:nvSpPr>
          <p:cNvPr id="3" name="Content Placeholder 2">
            <a:extLst>
              <a:ext uri="{FF2B5EF4-FFF2-40B4-BE49-F238E27FC236}">
                <a16:creationId xmlns:a16="http://schemas.microsoft.com/office/drawing/2014/main" id="{830F54F9-CD7E-DF17-B6F5-023740A07CE0}"/>
              </a:ext>
            </a:extLst>
          </p:cNvPr>
          <p:cNvSpPr>
            <a:spLocks noGrp="1"/>
          </p:cNvSpPr>
          <p:nvPr>
            <p:ph idx="1"/>
          </p:nvPr>
        </p:nvSpPr>
        <p:spPr/>
        <p:txBody>
          <a:bodyPr/>
          <a:lstStyle/>
          <a:p>
            <a:r>
              <a:rPr lang="en-IN" dirty="0"/>
              <a:t>Electron manages LLM and tool service</a:t>
            </a:r>
          </a:p>
          <a:p>
            <a:r>
              <a:rPr lang="en-IN" dirty="0"/>
              <a:t>Browser processes hosts UI and Editor Core for user interaction</a:t>
            </a:r>
          </a:p>
          <a:p>
            <a:r>
              <a:rPr lang="en-IN" dirty="0"/>
              <a:t>VS Code layers include Workbench, Editor, Platform, and Base</a:t>
            </a:r>
          </a:p>
          <a:p>
            <a:r>
              <a:rPr lang="en-IN" dirty="0"/>
              <a:t>VOID’s integration spans UI, Editor Core, and Service Layer</a:t>
            </a:r>
          </a:p>
        </p:txBody>
      </p:sp>
    </p:spTree>
    <p:extLst>
      <p:ext uri="{BB962C8B-B14F-4D97-AF65-F5344CB8AC3E}">
        <p14:creationId xmlns:p14="http://schemas.microsoft.com/office/powerpoint/2010/main" val="26925507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84DF8-999D-4B3A-1C87-711F260F043F}"/>
              </a:ext>
            </a:extLst>
          </p:cNvPr>
          <p:cNvSpPr>
            <a:spLocks noGrp="1"/>
          </p:cNvSpPr>
          <p:nvPr>
            <p:ph type="title"/>
          </p:nvPr>
        </p:nvSpPr>
        <p:spPr/>
        <p:txBody>
          <a:bodyPr/>
          <a:lstStyle/>
          <a:p>
            <a:r>
              <a:rPr lang="en-IN" dirty="0"/>
              <a:t>VOID’s subcomponents</a:t>
            </a:r>
          </a:p>
        </p:txBody>
      </p:sp>
      <p:sp>
        <p:nvSpPr>
          <p:cNvPr id="3" name="Content Placeholder 2">
            <a:extLst>
              <a:ext uri="{FF2B5EF4-FFF2-40B4-BE49-F238E27FC236}">
                <a16:creationId xmlns:a16="http://schemas.microsoft.com/office/drawing/2014/main" id="{ACF93033-628C-8220-A52D-6F5460FB0B4B}"/>
              </a:ext>
            </a:extLst>
          </p:cNvPr>
          <p:cNvSpPr>
            <a:spLocks noGrp="1"/>
          </p:cNvSpPr>
          <p:nvPr>
            <p:ph idx="1"/>
          </p:nvPr>
        </p:nvSpPr>
        <p:spPr/>
        <p:txBody>
          <a:bodyPr/>
          <a:lstStyle/>
          <a:p>
            <a:r>
              <a:rPr lang="en-IN" dirty="0"/>
              <a:t>UI :</a:t>
            </a:r>
            <a:br>
              <a:rPr lang="en-IN" dirty="0"/>
            </a:br>
            <a:r>
              <a:rPr lang="en-IN" dirty="0"/>
              <a:t> manages presentation, user interaction, and chat panel</a:t>
            </a:r>
          </a:p>
          <a:p>
            <a:r>
              <a:rPr lang="en-IN" dirty="0"/>
              <a:t>Editor core :</a:t>
            </a:r>
            <a:br>
              <a:rPr lang="en-IN" dirty="0"/>
            </a:br>
            <a:r>
              <a:rPr lang="en-IN" dirty="0"/>
              <a:t> handles text editing, workspace, syntax highlighting, and interacts with AI service</a:t>
            </a:r>
          </a:p>
          <a:p>
            <a:r>
              <a:rPr lang="en-IN" dirty="0"/>
              <a:t>LLM integration :</a:t>
            </a:r>
            <a:br>
              <a:rPr lang="en-IN" dirty="0"/>
            </a:br>
            <a:r>
              <a:rPr lang="en-IN" dirty="0"/>
              <a:t>manages LLM communication, provider configuration, and authentication </a:t>
            </a:r>
          </a:p>
        </p:txBody>
      </p:sp>
    </p:spTree>
    <p:extLst>
      <p:ext uri="{BB962C8B-B14F-4D97-AF65-F5344CB8AC3E}">
        <p14:creationId xmlns:p14="http://schemas.microsoft.com/office/powerpoint/2010/main" val="31619469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188D7-2939-615A-4F8C-81EF3B23F330}"/>
              </a:ext>
            </a:extLst>
          </p:cNvPr>
          <p:cNvSpPr>
            <a:spLocks noGrp="1"/>
          </p:cNvSpPr>
          <p:nvPr>
            <p:ph type="title"/>
          </p:nvPr>
        </p:nvSpPr>
        <p:spPr/>
        <p:txBody>
          <a:bodyPr/>
          <a:lstStyle/>
          <a:p>
            <a:r>
              <a:rPr lang="en-IN" dirty="0"/>
              <a:t>VOID’s subcomponents</a:t>
            </a:r>
          </a:p>
        </p:txBody>
      </p:sp>
      <p:sp>
        <p:nvSpPr>
          <p:cNvPr id="3" name="Content Placeholder 2">
            <a:extLst>
              <a:ext uri="{FF2B5EF4-FFF2-40B4-BE49-F238E27FC236}">
                <a16:creationId xmlns:a16="http://schemas.microsoft.com/office/drawing/2014/main" id="{E2EEC9B4-B16D-FDA9-28A3-EA0654539DCC}"/>
              </a:ext>
            </a:extLst>
          </p:cNvPr>
          <p:cNvSpPr>
            <a:spLocks noGrp="1"/>
          </p:cNvSpPr>
          <p:nvPr>
            <p:ph idx="1"/>
          </p:nvPr>
        </p:nvSpPr>
        <p:spPr/>
        <p:txBody>
          <a:bodyPr/>
          <a:lstStyle/>
          <a:p>
            <a:r>
              <a:rPr lang="en-IN" dirty="0"/>
              <a:t>Chat Orchestration :</a:t>
            </a:r>
            <a:br>
              <a:rPr lang="en-IN" dirty="0"/>
            </a:br>
            <a:r>
              <a:rPr lang="en-IN" dirty="0"/>
              <a:t>co-ordinates chat sessions, maintains context, bridges UI and LLM</a:t>
            </a:r>
          </a:p>
          <a:p>
            <a:r>
              <a:rPr lang="en-IN" dirty="0"/>
              <a:t>AI code application service :</a:t>
            </a:r>
            <a:br>
              <a:rPr lang="en-IN" dirty="0"/>
            </a:br>
            <a:r>
              <a:rPr lang="en-IN" dirty="0"/>
              <a:t>validates and applies AI generated edits safely </a:t>
            </a:r>
          </a:p>
          <a:p>
            <a:r>
              <a:rPr lang="en-IN" dirty="0"/>
              <a:t>Tool service :</a:t>
            </a:r>
            <a:br>
              <a:rPr lang="en-IN" dirty="0"/>
            </a:br>
            <a:r>
              <a:rPr lang="en-IN" dirty="0"/>
              <a:t>manages developer tools and extensions, executes asynchronously to keep UI responsive </a:t>
            </a:r>
          </a:p>
        </p:txBody>
      </p:sp>
    </p:spTree>
    <p:extLst>
      <p:ext uri="{BB962C8B-B14F-4D97-AF65-F5344CB8AC3E}">
        <p14:creationId xmlns:p14="http://schemas.microsoft.com/office/powerpoint/2010/main" val="29776716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3E60D-D23B-3856-2E77-B47EA8CBCB2A}"/>
              </a:ext>
            </a:extLst>
          </p:cNvPr>
          <p:cNvSpPr>
            <a:spLocks noGrp="1"/>
          </p:cNvSpPr>
          <p:nvPr>
            <p:ph type="title"/>
          </p:nvPr>
        </p:nvSpPr>
        <p:spPr/>
        <p:txBody>
          <a:bodyPr/>
          <a:lstStyle/>
          <a:p>
            <a:r>
              <a:rPr lang="en-IN" dirty="0"/>
              <a:t>VOID’s subcomponents</a:t>
            </a:r>
          </a:p>
        </p:txBody>
      </p:sp>
      <p:sp>
        <p:nvSpPr>
          <p:cNvPr id="3" name="Content Placeholder 2">
            <a:extLst>
              <a:ext uri="{FF2B5EF4-FFF2-40B4-BE49-F238E27FC236}">
                <a16:creationId xmlns:a16="http://schemas.microsoft.com/office/drawing/2014/main" id="{09C9FB87-CC02-2A64-6CE7-FD32F0025F76}"/>
              </a:ext>
            </a:extLst>
          </p:cNvPr>
          <p:cNvSpPr>
            <a:spLocks noGrp="1"/>
          </p:cNvSpPr>
          <p:nvPr>
            <p:ph idx="1"/>
          </p:nvPr>
        </p:nvSpPr>
        <p:spPr/>
        <p:txBody>
          <a:bodyPr/>
          <a:lstStyle/>
          <a:p>
            <a:r>
              <a:rPr lang="en-IN" dirty="0"/>
              <a:t>Configuration service :</a:t>
            </a:r>
            <a:br>
              <a:rPr lang="en-IN" dirty="0"/>
            </a:br>
            <a:r>
              <a:rPr lang="en-IN" dirty="0"/>
              <a:t>centralizes user and system setting, interacts with all layers</a:t>
            </a:r>
          </a:p>
          <a:p>
            <a:r>
              <a:rPr lang="en-IN" dirty="0"/>
              <a:t>Update distribution service :</a:t>
            </a:r>
            <a:br>
              <a:rPr lang="en-IN" dirty="0"/>
            </a:br>
            <a:r>
              <a:rPr lang="en-IN" dirty="0"/>
              <a:t>manages updates, packaging, and version control</a:t>
            </a:r>
          </a:p>
        </p:txBody>
      </p:sp>
    </p:spTree>
    <p:extLst>
      <p:ext uri="{BB962C8B-B14F-4D97-AF65-F5344CB8AC3E}">
        <p14:creationId xmlns:p14="http://schemas.microsoft.com/office/powerpoint/2010/main" val="8497380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04593-34BF-85D7-7874-67A06D4F50B4}"/>
              </a:ext>
            </a:extLst>
          </p:cNvPr>
          <p:cNvSpPr>
            <a:spLocks noGrp="1"/>
          </p:cNvSpPr>
          <p:nvPr>
            <p:ph type="title"/>
          </p:nvPr>
        </p:nvSpPr>
        <p:spPr/>
        <p:txBody>
          <a:bodyPr/>
          <a:lstStyle/>
          <a:p>
            <a:r>
              <a:rPr lang="en-IN" dirty="0"/>
              <a:t>Architectural styles of VOID</a:t>
            </a:r>
          </a:p>
        </p:txBody>
      </p:sp>
      <p:sp>
        <p:nvSpPr>
          <p:cNvPr id="3" name="Content Placeholder 2">
            <a:extLst>
              <a:ext uri="{FF2B5EF4-FFF2-40B4-BE49-F238E27FC236}">
                <a16:creationId xmlns:a16="http://schemas.microsoft.com/office/drawing/2014/main" id="{7F396791-AABD-2079-E035-36EED4E729BF}"/>
              </a:ext>
            </a:extLst>
          </p:cNvPr>
          <p:cNvSpPr>
            <a:spLocks noGrp="1"/>
          </p:cNvSpPr>
          <p:nvPr>
            <p:ph idx="1"/>
          </p:nvPr>
        </p:nvSpPr>
        <p:spPr/>
        <p:txBody>
          <a:bodyPr/>
          <a:lstStyle/>
          <a:p>
            <a:r>
              <a:rPr lang="en-IN" dirty="0"/>
              <a:t>Layered Style :</a:t>
            </a:r>
            <a:br>
              <a:rPr lang="en-IN" dirty="0"/>
            </a:br>
            <a:r>
              <a:rPr lang="en-IN" dirty="0"/>
              <a:t>clear separation of concerns between UI, Editor Core, and Service Layer</a:t>
            </a:r>
          </a:p>
          <a:p>
            <a:r>
              <a:rPr lang="en-IN" dirty="0"/>
              <a:t>Client-Server style :</a:t>
            </a:r>
            <a:br>
              <a:rPr lang="en-IN" dirty="0"/>
            </a:br>
            <a:r>
              <a:rPr lang="en-IN" dirty="0"/>
              <a:t>browser process acts as client, main process acts as server with IPC communication </a:t>
            </a:r>
          </a:p>
          <a:p>
            <a:r>
              <a:rPr lang="en-IN" dirty="0"/>
              <a:t>Pipe and Filter style:</a:t>
            </a:r>
            <a:br>
              <a:rPr lang="en-IN" dirty="0"/>
            </a:br>
            <a:r>
              <a:rPr lang="en-IN" dirty="0"/>
              <a:t>this is not useful style, as VOID is event driven and interactive than sequential </a:t>
            </a:r>
          </a:p>
        </p:txBody>
      </p:sp>
    </p:spTree>
    <p:extLst>
      <p:ext uri="{BB962C8B-B14F-4D97-AF65-F5344CB8AC3E}">
        <p14:creationId xmlns:p14="http://schemas.microsoft.com/office/powerpoint/2010/main" val="2847708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D50B9-D000-D815-DC8B-245896C2E33C}"/>
              </a:ext>
            </a:extLst>
          </p:cNvPr>
          <p:cNvSpPr>
            <a:spLocks noGrp="1"/>
          </p:cNvSpPr>
          <p:nvPr>
            <p:ph type="title"/>
          </p:nvPr>
        </p:nvSpPr>
        <p:spPr/>
        <p:txBody>
          <a:bodyPr/>
          <a:lstStyle/>
          <a:p>
            <a:r>
              <a:rPr lang="en-IN" dirty="0"/>
              <a:t>Detailed analysis of Chat Orchestration</a:t>
            </a:r>
          </a:p>
        </p:txBody>
      </p:sp>
      <p:sp>
        <p:nvSpPr>
          <p:cNvPr id="3" name="Content Placeholder 2">
            <a:extLst>
              <a:ext uri="{FF2B5EF4-FFF2-40B4-BE49-F238E27FC236}">
                <a16:creationId xmlns:a16="http://schemas.microsoft.com/office/drawing/2014/main" id="{B813F92D-8B08-15BB-DA7D-7D63B53EC56A}"/>
              </a:ext>
            </a:extLst>
          </p:cNvPr>
          <p:cNvSpPr>
            <a:spLocks noGrp="1"/>
          </p:cNvSpPr>
          <p:nvPr>
            <p:ph idx="1"/>
          </p:nvPr>
        </p:nvSpPr>
        <p:spPr/>
        <p:txBody>
          <a:bodyPr>
            <a:normAutofit fontScale="92500" lnSpcReduction="10000"/>
          </a:bodyPr>
          <a:lstStyle/>
          <a:p>
            <a:r>
              <a:rPr lang="en-US" dirty="0"/>
              <a:t> Chat Orchestration subsystem coordinates communication between the user and the LLM. It manages chat sessions, message history and conversational context to determine how to request code or text completions from the AI model. </a:t>
            </a:r>
          </a:p>
          <a:p>
            <a:r>
              <a:rPr lang="en-US" dirty="0"/>
              <a:t>The Chat Orchestration subsystem retrieves relevant code and selections from the Editor Core, packages it into a structured prompt and sends it to the LLM Integration Service.</a:t>
            </a:r>
          </a:p>
          <a:p>
            <a:r>
              <a:rPr lang="en-US" dirty="0"/>
              <a:t>By maintaining conversational context and controlling AI interactions, Chat Orchestration ensures coherent communication between the user and the AI system.</a:t>
            </a:r>
          </a:p>
          <a:p>
            <a:pPr marL="0" indent="0">
              <a:buNone/>
            </a:pPr>
            <a:br>
              <a:rPr lang="en-US" dirty="0"/>
            </a:br>
            <a:br>
              <a:rPr lang="en-US" dirty="0"/>
            </a:br>
            <a:br>
              <a:rPr lang="en-US" dirty="0"/>
            </a:br>
            <a:endParaRPr lang="en-IN" dirty="0"/>
          </a:p>
        </p:txBody>
      </p:sp>
    </p:spTree>
    <p:extLst>
      <p:ext uri="{BB962C8B-B14F-4D97-AF65-F5344CB8AC3E}">
        <p14:creationId xmlns:p14="http://schemas.microsoft.com/office/powerpoint/2010/main" val="41345595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86B83-3B56-1323-E031-3337400BC326}"/>
              </a:ext>
            </a:extLst>
          </p:cNvPr>
          <p:cNvSpPr>
            <a:spLocks noGrp="1"/>
          </p:cNvSpPr>
          <p:nvPr>
            <p:ph type="title"/>
          </p:nvPr>
        </p:nvSpPr>
        <p:spPr/>
        <p:txBody>
          <a:bodyPr/>
          <a:lstStyle/>
          <a:p>
            <a:r>
              <a:rPr lang="en-IN" dirty="0"/>
              <a:t>Reflexion analysis </a:t>
            </a:r>
          </a:p>
        </p:txBody>
      </p:sp>
      <p:sp>
        <p:nvSpPr>
          <p:cNvPr id="3" name="Content Placeholder 2">
            <a:extLst>
              <a:ext uri="{FF2B5EF4-FFF2-40B4-BE49-F238E27FC236}">
                <a16:creationId xmlns:a16="http://schemas.microsoft.com/office/drawing/2014/main" id="{7857C4C0-A627-6261-57A1-1C6DFB0CF27A}"/>
              </a:ext>
            </a:extLst>
          </p:cNvPr>
          <p:cNvSpPr>
            <a:spLocks noGrp="1"/>
          </p:cNvSpPr>
          <p:nvPr>
            <p:ph idx="1"/>
          </p:nvPr>
        </p:nvSpPr>
        <p:spPr/>
        <p:txBody>
          <a:bodyPr/>
          <a:lstStyle/>
          <a:p>
            <a:r>
              <a:rPr lang="en-US" dirty="0"/>
              <a:t>Reflection Analysis was conducted by mapping high level components from the conceptual architecture to the concrete subsystems using the understand software, the source code from </a:t>
            </a:r>
            <a:r>
              <a:rPr lang="en-US" dirty="0" err="1"/>
              <a:t>github</a:t>
            </a:r>
            <a:r>
              <a:rPr lang="en-US" dirty="0"/>
              <a:t>, and manual inspection.</a:t>
            </a:r>
          </a:p>
          <a:p>
            <a:r>
              <a:rPr lang="en-US" dirty="0"/>
              <a:t>Consistencies:</a:t>
            </a:r>
            <a:br>
              <a:rPr lang="en-US" dirty="0"/>
            </a:br>
            <a:r>
              <a:rPr lang="en-IN" dirty="0"/>
              <a:t>Layered Structure, VS Code and VOID integration, Architectural Styles</a:t>
            </a:r>
          </a:p>
          <a:p>
            <a:r>
              <a:rPr lang="en-IN" dirty="0"/>
              <a:t>Divergencies :</a:t>
            </a:r>
            <a:br>
              <a:rPr lang="en-IN" dirty="0"/>
            </a:br>
            <a:r>
              <a:rPr lang="en-IN" dirty="0"/>
              <a:t>Unexpected Dependencies, Relocated Components, Architectural Styles</a:t>
            </a:r>
          </a:p>
        </p:txBody>
      </p:sp>
    </p:spTree>
    <p:extLst>
      <p:ext uri="{BB962C8B-B14F-4D97-AF65-F5344CB8AC3E}">
        <p14:creationId xmlns:p14="http://schemas.microsoft.com/office/powerpoint/2010/main" val="27900590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371F5-A255-A4C0-7EE3-E21474A0D129}"/>
              </a:ext>
            </a:extLst>
          </p:cNvPr>
          <p:cNvSpPr>
            <a:spLocks noGrp="1"/>
          </p:cNvSpPr>
          <p:nvPr>
            <p:ph type="title"/>
          </p:nvPr>
        </p:nvSpPr>
        <p:spPr/>
        <p:txBody>
          <a:bodyPr/>
          <a:lstStyle/>
          <a:p>
            <a:r>
              <a:rPr lang="en-IN" dirty="0"/>
              <a:t>Reflexion analysis(cont.)</a:t>
            </a:r>
            <a:br>
              <a:rPr lang="en-IN" dirty="0"/>
            </a:br>
            <a:r>
              <a:rPr lang="en-IN" dirty="0"/>
              <a:t> </a:t>
            </a:r>
          </a:p>
        </p:txBody>
      </p:sp>
      <p:sp>
        <p:nvSpPr>
          <p:cNvPr id="3" name="Content Placeholder 2">
            <a:extLst>
              <a:ext uri="{FF2B5EF4-FFF2-40B4-BE49-F238E27FC236}">
                <a16:creationId xmlns:a16="http://schemas.microsoft.com/office/drawing/2014/main" id="{F51FD889-7CCA-9674-B70D-D9131333B560}"/>
              </a:ext>
            </a:extLst>
          </p:cNvPr>
          <p:cNvSpPr>
            <a:spLocks noGrp="1"/>
          </p:cNvSpPr>
          <p:nvPr>
            <p:ph idx="1"/>
          </p:nvPr>
        </p:nvSpPr>
        <p:spPr/>
        <p:txBody>
          <a:bodyPr>
            <a:normAutofit fontScale="85000" lnSpcReduction="20000"/>
          </a:bodyPr>
          <a:lstStyle/>
          <a:p>
            <a:r>
              <a:rPr lang="en-US" dirty="0"/>
              <a:t>Missing or merged components:</a:t>
            </a:r>
          </a:p>
          <a:p>
            <a:pPr fontAlgn="base"/>
            <a:r>
              <a:rPr lang="en-US" dirty="0"/>
              <a:t>Orchestration Layer:</a:t>
            </a:r>
            <a:r>
              <a:rPr lang="en-US" b="1" dirty="0"/>
              <a:t> </a:t>
            </a:r>
            <a:br>
              <a:rPr lang="en-US" b="1" dirty="0"/>
            </a:br>
            <a:r>
              <a:rPr lang="en-US" dirty="0"/>
              <a:t>In the concrete architecture the orchestration layer is split between the UI and the Chat Orchestration subsystems. In the conceptual architecture tasks were expected to be centralized in orchestration (</a:t>
            </a:r>
            <a:r>
              <a:rPr lang="en-US" dirty="0" err="1"/>
              <a:t>I.e</a:t>
            </a:r>
            <a:r>
              <a:rPr lang="en-US" dirty="0"/>
              <a:t> LLM message </a:t>
            </a:r>
            <a:r>
              <a:rPr lang="en-US" dirty="0" err="1"/>
              <a:t>preperaton</a:t>
            </a:r>
            <a:r>
              <a:rPr lang="en-US" dirty="0"/>
              <a:t>). Now, in the concrete architecture they are partially handled in the UI layer.</a:t>
            </a:r>
            <a:endParaRPr lang="en-US" b="1" dirty="0"/>
          </a:p>
          <a:p>
            <a:pPr fontAlgn="base"/>
            <a:r>
              <a:rPr lang="en-US" dirty="0"/>
              <a:t>Editor Core &amp; Tool service:</a:t>
            </a:r>
            <a:r>
              <a:rPr lang="en-US" b="1" dirty="0"/>
              <a:t> </a:t>
            </a:r>
            <a:br>
              <a:rPr lang="en-US" b="1" dirty="0"/>
            </a:br>
            <a:r>
              <a:rPr lang="en-US" dirty="0"/>
              <a:t>In the conceptual architecture the Editor Core and Tool Service were intended to be isolated from AI interactions, however, in the concrete architecture some AI interaction utilities were integrated into the Editor Core and Tool service, resulting in more tightly coupled subsystems</a:t>
            </a:r>
            <a:endParaRPr lang="en-US" b="1" dirty="0"/>
          </a:p>
          <a:p>
            <a:pPr fontAlgn="base"/>
            <a:r>
              <a:rPr lang="en-US" dirty="0"/>
              <a:t>Configuration &amp; Update Services: </a:t>
            </a:r>
            <a:br>
              <a:rPr lang="en-US" dirty="0"/>
            </a:br>
            <a:r>
              <a:rPr lang="en-US" dirty="0"/>
              <a:t>some conceptual configuration utilities and other modules were merged into other services like the Configuration service and the update distribution service in the concrete architecture to make way for more simplified implementation.</a:t>
            </a:r>
            <a:br>
              <a:rPr lang="en-US" dirty="0"/>
            </a:br>
            <a:br>
              <a:rPr lang="en-US" dirty="0"/>
            </a:br>
            <a:endParaRPr lang="en-US" b="1" dirty="0"/>
          </a:p>
          <a:p>
            <a:endParaRPr lang="en-IN" dirty="0"/>
          </a:p>
        </p:txBody>
      </p:sp>
    </p:spTree>
    <p:extLst>
      <p:ext uri="{BB962C8B-B14F-4D97-AF65-F5344CB8AC3E}">
        <p14:creationId xmlns:p14="http://schemas.microsoft.com/office/powerpoint/2010/main" val="5532714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D6840-AC8D-77ED-453D-04E6B858DB14}"/>
              </a:ext>
            </a:extLst>
          </p:cNvPr>
          <p:cNvSpPr>
            <a:spLocks noGrp="1"/>
          </p:cNvSpPr>
          <p:nvPr>
            <p:ph type="title"/>
          </p:nvPr>
        </p:nvSpPr>
        <p:spPr/>
        <p:txBody>
          <a:bodyPr/>
          <a:lstStyle/>
          <a:p>
            <a:r>
              <a:rPr lang="en-IN" dirty="0"/>
              <a:t>Reflexion (Cont.)</a:t>
            </a:r>
            <a:br>
              <a:rPr lang="en-IN" dirty="0"/>
            </a:br>
            <a:r>
              <a:rPr lang="en-IN" dirty="0"/>
              <a:t>Subsystem level analysis of VOID </a:t>
            </a:r>
          </a:p>
        </p:txBody>
      </p:sp>
      <p:sp>
        <p:nvSpPr>
          <p:cNvPr id="3" name="Content Placeholder 2">
            <a:extLst>
              <a:ext uri="{FF2B5EF4-FFF2-40B4-BE49-F238E27FC236}">
                <a16:creationId xmlns:a16="http://schemas.microsoft.com/office/drawing/2014/main" id="{0B62F506-DE16-6969-0077-D014AE02BFE6}"/>
              </a:ext>
            </a:extLst>
          </p:cNvPr>
          <p:cNvSpPr>
            <a:spLocks noGrp="1"/>
          </p:cNvSpPr>
          <p:nvPr>
            <p:ph idx="1"/>
          </p:nvPr>
        </p:nvSpPr>
        <p:spPr/>
        <p:txBody>
          <a:bodyPr>
            <a:normAutofit lnSpcReduction="10000"/>
          </a:bodyPr>
          <a:lstStyle/>
          <a:p>
            <a:pPr fontAlgn="base"/>
            <a:r>
              <a:rPr lang="en-US" dirty="0"/>
              <a:t>Chat orchestration ↔ Editor Core</a:t>
            </a:r>
            <a:r>
              <a:rPr lang="en-US" b="1" dirty="0"/>
              <a:t>:</a:t>
            </a:r>
            <a:r>
              <a:rPr lang="en-US" dirty="0"/>
              <a:t> </a:t>
            </a:r>
            <a:br>
              <a:rPr lang="en-US" dirty="0"/>
            </a:br>
            <a:r>
              <a:rPr lang="en-US" dirty="0"/>
              <a:t>chat orchestration will read and write to the editor core, which violates strict layering outlined in the conceptual architecture. This will allow </a:t>
            </a:r>
            <a:r>
              <a:rPr lang="en-US" dirty="0" err="1"/>
              <a:t>realtime</a:t>
            </a:r>
            <a:r>
              <a:rPr lang="en-US" dirty="0"/>
              <a:t> contextual information to be able to flow properly for LLM operations.</a:t>
            </a:r>
          </a:p>
          <a:p>
            <a:pPr fontAlgn="base"/>
            <a:r>
              <a:rPr lang="en-US" dirty="0"/>
              <a:t>Chat Orchestration ↔ Tool Service</a:t>
            </a:r>
            <a:r>
              <a:rPr lang="en-US" b="1" dirty="0"/>
              <a:t>:</a:t>
            </a:r>
            <a:br>
              <a:rPr lang="en-US" b="1" dirty="0"/>
            </a:br>
            <a:r>
              <a:rPr lang="en-US" b="1" dirty="0"/>
              <a:t> </a:t>
            </a:r>
            <a:r>
              <a:rPr lang="en-US" dirty="0"/>
              <a:t>In Agent Mode, chat orchestration is able to get tools from the tool service and receive results back. This was not anticipated in the conceptual architecture</a:t>
            </a:r>
            <a:endParaRPr lang="en-US" b="1" dirty="0"/>
          </a:p>
          <a:p>
            <a:pPr fontAlgn="base"/>
            <a:r>
              <a:rPr lang="en-US" dirty="0"/>
              <a:t>UI ↔ Chat Orchestration: </a:t>
            </a:r>
            <a:br>
              <a:rPr lang="en-US" dirty="0"/>
            </a:br>
            <a:r>
              <a:rPr lang="en-US" dirty="0"/>
              <a:t>the AI interaction is mostly handled in the UI layers before being forwarded to the Chat Orchestration, which opposes the conceptual architectural reasoning of an orchestration centric routing.</a:t>
            </a:r>
            <a:endParaRPr lang="en-US" b="1" dirty="0"/>
          </a:p>
          <a:p>
            <a:endParaRPr lang="en-IN" dirty="0"/>
          </a:p>
        </p:txBody>
      </p:sp>
    </p:spTree>
    <p:extLst>
      <p:ext uri="{BB962C8B-B14F-4D97-AF65-F5344CB8AC3E}">
        <p14:creationId xmlns:p14="http://schemas.microsoft.com/office/powerpoint/2010/main" val="32981294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859C6-7D7A-A916-1E4A-8BA5968AAABF}"/>
              </a:ext>
            </a:extLst>
          </p:cNvPr>
          <p:cNvSpPr>
            <a:spLocks noGrp="1"/>
          </p:cNvSpPr>
          <p:nvPr>
            <p:ph type="title"/>
          </p:nvPr>
        </p:nvSpPr>
        <p:spPr/>
        <p:txBody>
          <a:bodyPr/>
          <a:lstStyle/>
          <a:p>
            <a:r>
              <a:rPr lang="en-IN" dirty="0"/>
              <a:t>Use Case : 1 – Code Generation</a:t>
            </a:r>
          </a:p>
        </p:txBody>
      </p:sp>
      <p:sp>
        <p:nvSpPr>
          <p:cNvPr id="4" name="Content Placeholder 3">
            <a:extLst>
              <a:ext uri="{FF2B5EF4-FFF2-40B4-BE49-F238E27FC236}">
                <a16:creationId xmlns:a16="http://schemas.microsoft.com/office/drawing/2014/main" id="{7C157CFB-C68E-B48C-9D20-151F3C826D5C}"/>
              </a:ext>
            </a:extLst>
          </p:cNvPr>
          <p:cNvSpPr>
            <a:spLocks noGrp="1"/>
          </p:cNvSpPr>
          <p:nvPr>
            <p:ph idx="1"/>
          </p:nvPr>
        </p:nvSpPr>
        <p:spPr>
          <a:xfrm>
            <a:off x="2589213" y="1427747"/>
            <a:ext cx="3201987" cy="4510937"/>
          </a:xfrm>
        </p:spPr>
        <p:txBody>
          <a:bodyPr>
            <a:normAutofit fontScale="92500" lnSpcReduction="20000"/>
          </a:bodyPr>
          <a:lstStyle/>
          <a:p>
            <a:r>
              <a:rPr lang="en-IN" dirty="0"/>
              <a:t>Developers requests code generation using chat panel</a:t>
            </a:r>
          </a:p>
          <a:p>
            <a:r>
              <a:rPr lang="en-IN" dirty="0"/>
              <a:t>UI -&gt; Chat Orchestration -&gt; Editor -&gt; LLM -&gt; AI code application -&gt; UI</a:t>
            </a:r>
          </a:p>
          <a:p>
            <a:r>
              <a:rPr lang="en-IN" dirty="0"/>
              <a:t>The developer requests VOID to generate a search algorithm from chat panel, and UI asynchronously sends the prompt to chat orchestration, which sends it to LLM, the code is validated by AI code application service, and applied to editor core once confirmed </a:t>
            </a:r>
          </a:p>
          <a:p>
            <a:endParaRPr lang="en-IN" dirty="0"/>
          </a:p>
        </p:txBody>
      </p:sp>
      <p:pic>
        <p:nvPicPr>
          <p:cNvPr id="8" name="Picture 7">
            <a:extLst>
              <a:ext uri="{FF2B5EF4-FFF2-40B4-BE49-F238E27FC236}">
                <a16:creationId xmlns:a16="http://schemas.microsoft.com/office/drawing/2014/main" id="{91530736-6422-1344-7AA7-1C7AFBA0A1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10837" y="1427747"/>
            <a:ext cx="5346973" cy="3783349"/>
          </a:xfrm>
          <a:prstGeom prst="rect">
            <a:avLst/>
          </a:prstGeom>
        </p:spPr>
      </p:pic>
    </p:spTree>
    <p:extLst>
      <p:ext uri="{BB962C8B-B14F-4D97-AF65-F5344CB8AC3E}">
        <p14:creationId xmlns:p14="http://schemas.microsoft.com/office/powerpoint/2010/main" val="207478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24E14-0180-E7E5-5F79-D085C5B535F7}"/>
              </a:ext>
            </a:extLst>
          </p:cNvPr>
          <p:cNvSpPr>
            <a:spLocks noGrp="1"/>
          </p:cNvSpPr>
          <p:nvPr>
            <p:ph type="title"/>
          </p:nvPr>
        </p:nvSpPr>
        <p:spPr/>
        <p:txBody>
          <a:bodyPr/>
          <a:lstStyle/>
          <a:p>
            <a:r>
              <a:rPr lang="en-IN" dirty="0"/>
              <a:t>Use case : 2 – Code Refactoring</a:t>
            </a:r>
          </a:p>
        </p:txBody>
      </p:sp>
      <p:sp>
        <p:nvSpPr>
          <p:cNvPr id="7" name="Content Placeholder 6">
            <a:extLst>
              <a:ext uri="{FF2B5EF4-FFF2-40B4-BE49-F238E27FC236}">
                <a16:creationId xmlns:a16="http://schemas.microsoft.com/office/drawing/2014/main" id="{79C48177-0840-24D4-29A6-707259C68C27}"/>
              </a:ext>
            </a:extLst>
          </p:cNvPr>
          <p:cNvSpPr>
            <a:spLocks noGrp="1"/>
          </p:cNvSpPr>
          <p:nvPr>
            <p:ph idx="1"/>
          </p:nvPr>
        </p:nvSpPr>
        <p:spPr>
          <a:xfrm>
            <a:off x="2589212" y="1620253"/>
            <a:ext cx="2977399" cy="4973051"/>
          </a:xfrm>
        </p:spPr>
        <p:txBody>
          <a:bodyPr>
            <a:normAutofit lnSpcReduction="10000"/>
          </a:bodyPr>
          <a:lstStyle/>
          <a:p>
            <a:r>
              <a:rPr lang="en-IN" dirty="0"/>
              <a:t>The developer requests VOID to refactor a selected piece of code via UI</a:t>
            </a:r>
          </a:p>
          <a:p>
            <a:r>
              <a:rPr lang="en-IN" dirty="0"/>
              <a:t>UI asynchronously sends the request and contextual data to Chat Orchestration and then the LLM. </a:t>
            </a:r>
          </a:p>
          <a:p>
            <a:r>
              <a:rPr lang="en-IN" dirty="0"/>
              <a:t>This service displays changes for developer approval</a:t>
            </a:r>
          </a:p>
          <a:p>
            <a:r>
              <a:rPr lang="en-IN" dirty="0"/>
              <a:t>Then applies validates updates to the Editor Code and confirms competition in UI</a:t>
            </a:r>
          </a:p>
        </p:txBody>
      </p:sp>
      <p:pic>
        <p:nvPicPr>
          <p:cNvPr id="9" name="Picture 8">
            <a:extLst>
              <a:ext uri="{FF2B5EF4-FFF2-40B4-BE49-F238E27FC236}">
                <a16:creationId xmlns:a16="http://schemas.microsoft.com/office/drawing/2014/main" id="{730E92C0-D860-C149-FEDF-EF31BFC6B0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599910"/>
            <a:ext cx="5630779" cy="4415879"/>
          </a:xfrm>
          <a:prstGeom prst="rect">
            <a:avLst/>
          </a:prstGeom>
        </p:spPr>
      </p:pic>
    </p:spTree>
    <p:extLst>
      <p:ext uri="{BB962C8B-B14F-4D97-AF65-F5344CB8AC3E}">
        <p14:creationId xmlns:p14="http://schemas.microsoft.com/office/powerpoint/2010/main" val="16252067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46B32-6259-7986-398D-1FAEBACE6F15}"/>
              </a:ext>
            </a:extLst>
          </p:cNvPr>
          <p:cNvSpPr>
            <a:spLocks noGrp="1"/>
          </p:cNvSpPr>
          <p:nvPr>
            <p:ph type="title"/>
          </p:nvPr>
        </p:nvSpPr>
        <p:spPr/>
        <p:txBody>
          <a:bodyPr/>
          <a:lstStyle/>
          <a:p>
            <a:r>
              <a:rPr lang="en-IN" dirty="0"/>
              <a:t>Discussion and Observation</a:t>
            </a:r>
          </a:p>
        </p:txBody>
      </p:sp>
      <p:sp>
        <p:nvSpPr>
          <p:cNvPr id="3" name="Content Placeholder 2">
            <a:extLst>
              <a:ext uri="{FF2B5EF4-FFF2-40B4-BE49-F238E27FC236}">
                <a16:creationId xmlns:a16="http://schemas.microsoft.com/office/drawing/2014/main" id="{303B1C50-A923-D73D-E5FF-8E0BAC8530BE}"/>
              </a:ext>
            </a:extLst>
          </p:cNvPr>
          <p:cNvSpPr>
            <a:spLocks noGrp="1"/>
          </p:cNvSpPr>
          <p:nvPr>
            <p:ph idx="1"/>
          </p:nvPr>
        </p:nvSpPr>
        <p:spPr>
          <a:xfrm>
            <a:off x="2589212" y="2133600"/>
            <a:ext cx="3614943" cy="3777622"/>
          </a:xfrm>
        </p:spPr>
        <p:txBody>
          <a:bodyPr/>
          <a:lstStyle/>
          <a:p>
            <a:r>
              <a:rPr lang="en-IN" dirty="0"/>
              <a:t>High level layering preserved</a:t>
            </a:r>
          </a:p>
          <a:p>
            <a:r>
              <a:rPr lang="en-IN" dirty="0"/>
              <a:t>Tight coupling in some areas complicates modification </a:t>
            </a:r>
          </a:p>
          <a:p>
            <a:r>
              <a:rPr lang="en-IN" dirty="0"/>
              <a:t>Reflexion analysis highlights alignment and drift</a:t>
            </a:r>
          </a:p>
          <a:p>
            <a:r>
              <a:rPr lang="en-IN" dirty="0"/>
              <a:t>Understand tool simplified dependency visualization</a:t>
            </a:r>
          </a:p>
        </p:txBody>
      </p:sp>
    </p:spTree>
    <p:extLst>
      <p:ext uri="{BB962C8B-B14F-4D97-AF65-F5344CB8AC3E}">
        <p14:creationId xmlns:p14="http://schemas.microsoft.com/office/powerpoint/2010/main" val="41339277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A0C60-9F70-46F5-E04A-109832F08661}"/>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F47EF803-DD11-7EB0-D712-E5F2D139F279}"/>
              </a:ext>
            </a:extLst>
          </p:cNvPr>
          <p:cNvSpPr>
            <a:spLocks noGrp="1"/>
          </p:cNvSpPr>
          <p:nvPr>
            <p:ph idx="1"/>
          </p:nvPr>
        </p:nvSpPr>
        <p:spPr/>
        <p:txBody>
          <a:bodyPr>
            <a:normAutofit/>
          </a:bodyPr>
          <a:lstStyle/>
          <a:p>
            <a:r>
              <a:rPr lang="en-US" dirty="0"/>
              <a:t>The report on the concrete architecture gave a strong understanding of VOID’s built architecture.</a:t>
            </a:r>
          </a:p>
          <a:p>
            <a:r>
              <a:rPr lang="en-US" dirty="0"/>
              <a:t>We have shown the detailed concrete architecture, and the similarities and differences from the conceptual architecture that we had in A1 report. </a:t>
            </a:r>
          </a:p>
          <a:p>
            <a:r>
              <a:rPr lang="en-US" dirty="0"/>
              <a:t>We derived the dependencies based on the actual source code folders using the Understand Tool, through this dependency extraction, subsystem, and </a:t>
            </a:r>
            <a:r>
              <a:rPr lang="en-US" dirty="0" err="1"/>
              <a:t>reflexion</a:t>
            </a:r>
            <a:r>
              <a:rPr lang="en-US" dirty="0"/>
              <a:t> analysis we learned about how real-world implementation diverges for functional and performance reasons.</a:t>
            </a:r>
          </a:p>
          <a:p>
            <a:r>
              <a:rPr lang="en-US" dirty="0"/>
              <a:t>Overall, this report shows the importance of maintaining the balance between the design and the actual implementation. </a:t>
            </a:r>
            <a:endParaRPr lang="en-IN" dirty="0"/>
          </a:p>
        </p:txBody>
      </p:sp>
    </p:spTree>
    <p:extLst>
      <p:ext uri="{BB962C8B-B14F-4D97-AF65-F5344CB8AC3E}">
        <p14:creationId xmlns:p14="http://schemas.microsoft.com/office/powerpoint/2010/main" val="40127534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603AE-D4E5-08BF-500E-A672BE4B38EF}"/>
              </a:ext>
            </a:extLst>
          </p:cNvPr>
          <p:cNvSpPr>
            <a:spLocks noGrp="1"/>
          </p:cNvSpPr>
          <p:nvPr>
            <p:ph type="title"/>
          </p:nvPr>
        </p:nvSpPr>
        <p:spPr/>
        <p:txBody>
          <a:bodyPr/>
          <a:lstStyle/>
          <a:p>
            <a:r>
              <a:rPr lang="en-IN" dirty="0"/>
              <a:t>AI Report </a:t>
            </a:r>
          </a:p>
        </p:txBody>
      </p:sp>
      <p:sp>
        <p:nvSpPr>
          <p:cNvPr id="3" name="Content Placeholder 2">
            <a:extLst>
              <a:ext uri="{FF2B5EF4-FFF2-40B4-BE49-F238E27FC236}">
                <a16:creationId xmlns:a16="http://schemas.microsoft.com/office/drawing/2014/main" id="{49D3F9B3-4D63-23B4-27C8-95DD1BBC9FF3}"/>
              </a:ext>
            </a:extLst>
          </p:cNvPr>
          <p:cNvSpPr>
            <a:spLocks noGrp="1"/>
          </p:cNvSpPr>
          <p:nvPr>
            <p:ph idx="1"/>
          </p:nvPr>
        </p:nvSpPr>
        <p:spPr/>
        <p:txBody>
          <a:bodyPr/>
          <a:lstStyle/>
          <a:p>
            <a:r>
              <a:rPr lang="en-IN" dirty="0"/>
              <a:t>Used AI to clarify subsystems</a:t>
            </a:r>
          </a:p>
          <a:p>
            <a:r>
              <a:rPr lang="en-IN" dirty="0"/>
              <a:t>Interpret complex architecture concepts</a:t>
            </a:r>
          </a:p>
          <a:p>
            <a:r>
              <a:rPr lang="en-IN" dirty="0"/>
              <a:t>Assist in mapping VOID’s code in Understand Tool</a:t>
            </a:r>
          </a:p>
          <a:p>
            <a:r>
              <a:rPr lang="en-IN" dirty="0"/>
              <a:t>Helped organizing tasks</a:t>
            </a:r>
          </a:p>
          <a:p>
            <a:r>
              <a:rPr lang="en-IN" dirty="0"/>
              <a:t>Validate technical details and improving understanding of the subsystem interactions</a:t>
            </a:r>
          </a:p>
        </p:txBody>
      </p:sp>
    </p:spTree>
    <p:extLst>
      <p:ext uri="{BB962C8B-B14F-4D97-AF65-F5344CB8AC3E}">
        <p14:creationId xmlns:p14="http://schemas.microsoft.com/office/powerpoint/2010/main" val="3923316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8BC08-5373-102C-C8F1-EFCE61FE7A8F}"/>
              </a:ext>
            </a:extLst>
          </p:cNvPr>
          <p:cNvSpPr>
            <a:spLocks noGrp="1"/>
          </p:cNvSpPr>
          <p:nvPr>
            <p:ph type="title"/>
          </p:nvPr>
        </p:nvSpPr>
        <p:spPr/>
        <p:txBody>
          <a:bodyPr/>
          <a:lstStyle/>
          <a:p>
            <a:pPr algn="ctr"/>
            <a:r>
              <a:rPr lang="en-IN" dirty="0"/>
              <a:t>Thank you </a:t>
            </a:r>
          </a:p>
        </p:txBody>
      </p:sp>
    </p:spTree>
    <p:extLst>
      <p:ext uri="{BB962C8B-B14F-4D97-AF65-F5344CB8AC3E}">
        <p14:creationId xmlns:p14="http://schemas.microsoft.com/office/powerpoint/2010/main" val="429145084"/>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378</TotalTime>
  <Words>1152</Words>
  <Application>Microsoft Office PowerPoint</Application>
  <PresentationFormat>Widescreen</PresentationFormat>
  <Paragraphs>80</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Century Gothic</vt:lpstr>
      <vt:lpstr>Wingdings 3</vt:lpstr>
      <vt:lpstr>Wisp</vt:lpstr>
      <vt:lpstr>Link to the video</vt:lpstr>
      <vt:lpstr>CISC 322  A2 Presentation</vt:lpstr>
      <vt:lpstr>Introduction </vt:lpstr>
      <vt:lpstr>Deriving Concrete Architecture </vt:lpstr>
      <vt:lpstr>High level concrete architecture</vt:lpstr>
      <vt:lpstr>VOID’s subcomponents</vt:lpstr>
      <vt:lpstr>VOID’s subcomponents</vt:lpstr>
      <vt:lpstr>VOID’s subcomponents</vt:lpstr>
      <vt:lpstr>Architectural styles of VOID</vt:lpstr>
      <vt:lpstr>Detailed analysis of Chat Orchestration</vt:lpstr>
      <vt:lpstr>Reflexion analysis </vt:lpstr>
      <vt:lpstr>Reflexion analysis(cont.)  </vt:lpstr>
      <vt:lpstr>Reflexion (Cont.) Subsystem level analysis of VOID </vt:lpstr>
      <vt:lpstr>Use Case : 1 – Code Generation</vt:lpstr>
      <vt:lpstr>Use case : 2 – Code Refactoring</vt:lpstr>
      <vt:lpstr>Discussion and Observation</vt:lpstr>
      <vt:lpstr>Conclusion</vt:lpstr>
      <vt:lpstr>AI Report </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Nitin Patel</dc:creator>
  <cp:lastModifiedBy>Nitin Patel</cp:lastModifiedBy>
  <cp:revision>5</cp:revision>
  <dcterms:created xsi:type="dcterms:W3CDTF">2025-11-06T17:43:52Z</dcterms:created>
  <dcterms:modified xsi:type="dcterms:W3CDTF">2025-11-08T02:14:09Z</dcterms:modified>
</cp:coreProperties>
</file>